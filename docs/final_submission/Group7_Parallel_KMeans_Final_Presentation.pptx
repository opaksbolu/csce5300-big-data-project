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71" r:id="rId23"/>
    <p:sldId id="262" r:id="rId13"/>
    <p:sldId id="272" r:id="rId24"/>
    <p:sldId id="273" r:id="rId25"/>
    <p:sldId id="274" r:id="rId26"/>
    <p:sldId id="275" r:id="rId27"/>
    <p:sldId id="263" r:id="rId14"/>
    <p:sldId id="264" r:id="rId15"/>
    <p:sldId id="265" r:id="rId16"/>
    <p:sldId id="276" r:id="rId28"/>
    <p:sldId id="266" r:id="rId17"/>
    <p:sldId id="267" r:id="rId18"/>
    <p:sldId id="268" r:id="rId19"/>
    <p:sldId id="277" r:id="rId29"/>
    <p:sldId id="269" r:id="rId20"/>
    <p:sldId id="278" r:id="rId3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8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1.xml"/><Relationship Id="rId21" Type="http://schemas.openxmlformats.org/officeDocument/2006/relationships/slide" Target="slides/slide23.xml"/><Relationship Id="rId22" Type="http://schemas.openxmlformats.org/officeDocument/2006/relationships/notesMaster" Target="notesMasters/notesMaster1.xml"/><Relationship Id="rId23" Type="http://schemas.openxmlformats.org/officeDocument/2006/relationships/slide" Target="slides/slide7.xml"/><Relationship Id="rId24" Type="http://schemas.openxmlformats.org/officeDocument/2006/relationships/slide" Target="slides/slide9.xml"/><Relationship Id="rId25" Type="http://schemas.openxmlformats.org/officeDocument/2006/relationships/slide" Target="slides/slide10.xml"/><Relationship Id="rId26" Type="http://schemas.openxmlformats.org/officeDocument/2006/relationships/slide" Target="slides/slide11.xml"/><Relationship Id="rId27" Type="http://schemas.openxmlformats.org/officeDocument/2006/relationships/slide" Target="slides/slide12.xml"/><Relationship Id="rId28" Type="http://schemas.openxmlformats.org/officeDocument/2006/relationships/slide" Target="slides/slide16.xml"/><Relationship Id="rId29" Type="http://schemas.openxmlformats.org/officeDocument/2006/relationships/slide" Target="slides/slide20.xml"/><Relationship Id="rId30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Group 7, the research topic, and the goal of evaluating parallel clustering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why clustering matters in big data analytics and why execution time becomes important as datasets grow.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Identify the approved paper and distinguish its proposed method from the implementation developed for this course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iterative K-Means procedure. Explain that lower SSE means observations are closer to their assigned centers, but comparisons must use the same dataset and conditions.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partition-level initialization and subsequent global refinement. Avoid claiming that this pipeline is identical to every step of the published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Describe the implemented software components and how Spark is used. Clarify that the tested local configurations run on one physical computer.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controlled variables and the repeated experimental design. local[1], local[2], and local[4] represent local execution parallelism, not three separate cluster machines.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Discuss the runtime figure and the reduction in measured execution time as local parallelism increases.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speedup calculation and why overhead, coordination, and hardware constraints can prevent perfect linear scaling.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SSE and why the consistency across worker settings matters. Do not infer that the larger dataset has inherently worse clustering solely from its larger total 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 the baseline figure against the final report before presenting. Do not make numerical baseline claims that have not been verified from the original baseline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a careful qualitative comparison with the paper. Check the report's paper-comparison section before adding any quantitative claims about published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a short, rehearsed demonstration. Confirm the exact command and expected output before presentation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Summarize the findings without claiming that local-mode experiments prove general distributed scalability.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submission, replace the abbreviated paper reference with the complete verified IEEE citation and add any references needed for slide-specific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RESEARCH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Parallel K-Means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Apache Spark implementation &amp; performance evaluation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01 / 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20240"/>
            <a:ext cx="10881360" cy="2423160"/>
          </a:xfrm>
          <a:prstGeom prst="roundRect">
            <a:avLst>
              <a:gd name="adj" fmla="val 14000"/>
            </a:avLst>
          </a:prstGeom>
          <a:solidFill>
            <a:srgbClr val="11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359152"/>
            <a:ext cx="98755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3100" b="1">
                <a:solidFill>
                  <a:srgbClr val="FFFFFF"/>
                </a:solidFill>
                <a:latin typeface="Aptos"/>
              </a:defRPr>
            </a:pPr>
            <a:r>
              <a:t>A research-inspired approach to faster clustering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383280"/>
            <a:ext cx="9784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D1E8EA"/>
                </a:solidFill>
                <a:latin typeface="Aptos"/>
              </a:defRPr>
            </a:pPr>
            <a:r>
              <a:t>Partition-level K-Means  →  candidate-center aggregation  →  distributed refinement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75488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5364A"/>
                </a:solidFill>
                <a:latin typeface="Aptos"/>
              </a:defRPr>
            </a:pPr>
            <a:r>
              <a:t>Chidiebere Abonyi   •   Anaelle Manzi   •   Dinh Nguyen   •   Abdul-Azeem Opakunle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PROBLEM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Why parallelize K-Means?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Repeated nearest-center calculations become costly as data grows.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02 / 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965960"/>
            <a:ext cx="3520440" cy="31546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221991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5" y="2221991"/>
            <a:ext cx="295351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The challenge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898648"/>
            <a:ext cx="2935224" cy="213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5364A"/>
                </a:solidFill>
                <a:latin typeface="Aptos"/>
              </a:defRPr>
            </a:pPr>
            <a:r>
              <a:t>Traditional K-Means iterates through assignment and center updates on the full dataset.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965960"/>
            <a:ext cx="3520440" cy="31546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35424" y="2221991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4" y="2221991"/>
            <a:ext cx="295351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The opportunity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2898648"/>
            <a:ext cx="2935224" cy="213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5364A"/>
                </a:solidFill>
                <a:latin typeface="Aptos"/>
              </a:defRPr>
            </a:pPr>
            <a:r>
              <a:t>Partition-level computation can use multiple local worker threads to process data in parallel.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1965960"/>
            <a:ext cx="3520440" cy="31546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11312" y="2221991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2221991"/>
            <a:ext cx="295351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The 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898648"/>
            <a:ext cx="2935224" cy="213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5364A"/>
                </a:solidFill>
                <a:latin typeface="Aptos"/>
              </a:defRPr>
            </a:pPr>
            <a:r>
              <a:t>Can execution time decrease without changing the measured clustering quality?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LITERATURE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Research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Inspired by Liu et al. (2024), IEEE ICPECA, document 10470970.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03 / 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19"/>
            <a:ext cx="5166360" cy="34747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32688" y="2130552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2130552"/>
            <a:ext cx="4599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Paper contribution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807208"/>
            <a:ext cx="4581144" cy="2450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5364A"/>
                </a:solidFill>
                <a:latin typeface="Aptos"/>
              </a:defRPr>
            </a:pPr>
            <a:r>
              <a:t>Partition-based local clustering, combined candidate centers, and iterative global refinement.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874519"/>
            <a:ext cx="5166360" cy="34747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2130552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2130552"/>
            <a:ext cx="4599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Our contribution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807208"/>
            <a:ext cx="4581144" cy="2450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5364A"/>
                </a:solidFill>
                <a:latin typeface="Aptos"/>
              </a:defRPr>
            </a:pPr>
            <a:r>
              <a:t>A custom Python / PySpark implementation with controlled experiments and a traditional K-Means baseline.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4184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87E8B"/>
                </a:solidFill>
                <a:latin typeface="Aptos"/>
              </a:defRPr>
            </a:pPr>
            <a:r>
              <a:t>Research-inspired adaptation — not a line-by-line replication or a reproduction of the paper’s multi-node results.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ALGORITHM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Traditional K-Means in four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04 /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5230368" cy="171907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2039112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2039112"/>
            <a:ext cx="46634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01  Initialize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715768"/>
            <a:ext cx="4645152" cy="6949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5364A"/>
                </a:solidFill>
                <a:latin typeface="Aptos"/>
              </a:defRPr>
            </a:pPr>
            <a:r>
              <a:t>Choose K starting centers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783080"/>
            <a:ext cx="5230368" cy="171907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91655" y="2039112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74536" y="2039112"/>
            <a:ext cx="46634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02  Assign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2715768"/>
            <a:ext cx="4645152" cy="6949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5364A"/>
                </a:solidFill>
                <a:latin typeface="Aptos"/>
              </a:defRPr>
            </a:pPr>
            <a:r>
              <a:t>Find nearest center for each point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749039"/>
            <a:ext cx="5230368" cy="171907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6968" y="4005072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4005072"/>
            <a:ext cx="46634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03  Update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" y="4681727"/>
            <a:ext cx="4645152" cy="6949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5364A"/>
                </a:solidFill>
                <a:latin typeface="Aptos"/>
              </a:defRPr>
            </a:pPr>
            <a:r>
              <a:t>Recalculate cluster means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0488" y="3749039"/>
            <a:ext cx="5230368" cy="171907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91655" y="4005072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74536" y="4005072"/>
            <a:ext cx="46634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04  Repeat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83096" y="4681727"/>
            <a:ext cx="4645152" cy="6949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5364A"/>
                </a:solidFill>
                <a:latin typeface="Aptos"/>
              </a:defRPr>
            </a:pPr>
            <a:r>
              <a:t>Stop when convergence is reached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96188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87E8B"/>
                </a:solidFill>
                <a:latin typeface="Aptos"/>
              </a:defRPr>
            </a:pPr>
            <a:r>
              <a:t>Objective: minimize within-cluster sum of squared errors (SSE).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Parallel K-Means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A visual summary of the nine-step implementation.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05 / 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920240"/>
            <a:ext cx="3538728" cy="1463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121408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87E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551176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Dataset + RDD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25054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087E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920240"/>
            <a:ext cx="3538728" cy="1463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2121408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87E8B"/>
                </a:solidFill>
                <a:latin typeface="Aptos"/>
              </a:defRPr>
            </a:pPr>
            <a:r>
              <a:t>PARTITION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551176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4 Spark partitions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5054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087E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1920240"/>
            <a:ext cx="3538728" cy="1463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6488" y="2121408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87E8B"/>
                </a:solidFill>
                <a:latin typeface="Aptos"/>
              </a:defRPr>
            </a:pPr>
            <a:r>
              <a:t>LOCAL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551176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K-Means in each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931920"/>
            <a:ext cx="3538728" cy="1463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4133088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87E8B"/>
                </a:solidFill>
                <a:latin typeface="Aptos"/>
              </a:defRPr>
            </a:pPr>
            <a: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562856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Candidate centers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0520" y="451713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087E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34840" y="3931920"/>
            <a:ext cx="3538728" cy="1463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36008" y="4133088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87E8B"/>
                </a:solidFill>
                <a:latin typeface="Aptos"/>
              </a:defRPr>
            </a:pPr>
            <a:r>
              <a:t>AGGREGATE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4562856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5 restarts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451713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087E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75320" y="3931920"/>
            <a:ext cx="3538728" cy="1463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76488" y="4133088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87E8B"/>
                </a:solidFill>
                <a:latin typeface="Aptos"/>
              </a:defRPr>
            </a:pPr>
            <a:r>
              <a:t>GLOBAL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76488" y="4562856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Distributed updates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" y="612648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Final output: global cluster centers, SSE, convergence status, and cluster counts.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Implementation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06 /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5257800" cy="349300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2039112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2039112"/>
            <a:ext cx="469087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Local computation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715768"/>
            <a:ext cx="4672584" cy="2468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5364A"/>
                </a:solidFill>
                <a:latin typeface="Aptos"/>
              </a:defRPr>
            </a:pPr>
            <a:r>
              <a:t>mapPartitionsWithIndex</a:t>
            </a:r>
          </a:p>
          <a:p>
            <a:pPr>
              <a:spcAft>
                <a:spcPts val="600"/>
              </a:spcAft>
              <a:defRPr sz="1800" b="0">
                <a:solidFill>
                  <a:srgbClr val="25364A"/>
                </a:solidFill>
                <a:latin typeface="Aptos"/>
              </a:defRPr>
            </a:pPr>
            <a:r>
              <a:t>Custom K-Means++ initialization</a:t>
            </a:r>
          </a:p>
          <a:p>
            <a:pPr>
              <a:spcAft>
                <a:spcPts val="600"/>
              </a:spcAft>
              <a:defRPr sz="1800" b="0">
                <a:solidFill>
                  <a:srgbClr val="25364A"/>
                </a:solidFill>
                <a:latin typeface="Aptos"/>
              </a:defRPr>
            </a:pPr>
            <a:r>
              <a:t>Candidate-center generation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783080"/>
            <a:ext cx="5257800" cy="349300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73368" y="2039112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6248" y="2039112"/>
            <a:ext cx="469087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Global computation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2715768"/>
            <a:ext cx="4672584" cy="2468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5364A"/>
                </a:solidFill>
                <a:latin typeface="Aptos"/>
              </a:defRPr>
            </a:pPr>
            <a:r>
              <a:t>Broadcast current centers</a:t>
            </a:r>
          </a:p>
          <a:p>
            <a:pPr>
              <a:spcAft>
                <a:spcPts val="600"/>
              </a:spcAft>
              <a:defRPr sz="1800" b="0">
                <a:solidFill>
                  <a:srgbClr val="25364A"/>
                </a:solidFill>
                <a:latin typeface="Aptos"/>
              </a:defRPr>
            </a:pPr>
            <a:r>
              <a:t>reduceByKey cluster statistics</a:t>
            </a:r>
          </a:p>
          <a:p>
            <a:pPr>
              <a:spcAft>
                <a:spcPts val="600"/>
              </a:spcAft>
              <a:defRPr sz="1800" b="0">
                <a:solidFill>
                  <a:srgbClr val="25364A"/>
                </a:solidFill>
                <a:latin typeface="Aptos"/>
              </a:defRPr>
            </a:pPr>
            <a:r>
              <a:t>Iterate until SSE-change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5669280"/>
            <a:ext cx="1060704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87E8B"/>
                </a:solidFill>
                <a:latin typeface="Aptos"/>
              </a:defRPr>
            </a:pPr>
            <a:r>
              <a:t>Custom implementation — not a call to Spark MLlib’s K-Means estimator.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D7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38328"/>
            <a:ext cx="11002975" cy="2743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100" b="1">
                <a:solidFill>
                  <a:srgbClr val="0D747D"/>
                </a:solidFill>
                <a:latin typeface="Aptos"/>
              </a:defRPr>
            </a:pPr>
            <a:r>
              <a:t>CONTROLLED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1002975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2800" b="1">
                <a:solidFill>
                  <a:srgbClr val="162C3B"/>
                </a:solidFill>
                <a:latin typeface="Aptos"/>
              </a:defRPr>
            </a:pPr>
            <a:r>
              <a:t>Experimental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total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36 Spark + 6 traditional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9074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1954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5378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datasets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5378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Synthetic + KDD99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3788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6668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0092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random seeds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0092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42, 43, 44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773168"/>
            <a:ext cx="11002975" cy="841248"/>
          </a:xfrm>
          <a:prstGeom prst="round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4928616"/>
            <a:ext cx="10618927" cy="57607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400" b="0">
                <a:solidFill>
                  <a:srgbClr val="162C3B"/>
                </a:solidFill>
                <a:latin typeface="Aptos"/>
              </a:defRPr>
            </a:pPr>
            <a:r>
              <a:t>Each sample has 1,000 records. Spark configurations: local[1], local[2], local[4]; 2 or 4 partitions.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6446520"/>
            <a:ext cx="10820095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900" b="0">
                <a:solidFill>
                  <a:srgbClr val="566874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67567" y="6446520"/>
            <a:ext cx="658368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r">
              <a:defRPr sz="900" b="0">
                <a:solidFill>
                  <a:srgbClr val="566874"/>
                </a:solidFill>
                <a:latin typeface="Aptos"/>
              </a:defRPr>
            </a:pPr>
            <a:r>
              <a:t>07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Historical synthetic scalability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Historical repeated synthetic study: 10K and 50K records, 3 seeds, one machine.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08 / 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1847088"/>
            <a:ext cx="3538728" cy="11704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984248"/>
            <a:ext cx="319125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62748A"/>
                </a:solidFill>
                <a:latin typeface="Aptos"/>
              </a:defRPr>
            </a:pPr>
            <a:r>
              <a:t>DATASETS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304288"/>
            <a:ext cx="3191256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500" b="1">
                <a:solidFill>
                  <a:srgbClr val="11243B"/>
                </a:solidFill>
                <a:latin typeface="Aptos"/>
              </a:defRPr>
            </a:pPr>
            <a:r>
              <a:t>10k / 50k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17136" y="1847088"/>
            <a:ext cx="3538728" cy="11704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90872" y="1984248"/>
            <a:ext cx="319125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62748A"/>
                </a:solidFill>
                <a:latin typeface="Aptos"/>
              </a:defRPr>
            </a:pPr>
            <a:r>
              <a:t>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2304288"/>
            <a:ext cx="3191256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500" b="1">
                <a:solidFill>
                  <a:srgbClr val="11243B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57616" y="1847088"/>
            <a:ext cx="3538728" cy="11704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31352" y="1984248"/>
            <a:ext cx="319125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62748A"/>
                </a:solidFill>
                <a:latin typeface="Aptos"/>
              </a:defRPr>
            </a:pPr>
            <a:r>
              <a:t>CLUSTERS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1352" y="2304288"/>
            <a:ext cx="3191256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500" b="1">
                <a:solidFill>
                  <a:srgbClr val="11243B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656" y="3291840"/>
            <a:ext cx="3538728" cy="11704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3429000"/>
            <a:ext cx="319125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62748A"/>
                </a:solidFill>
                <a:latin typeface="Aptos"/>
              </a:defRPr>
            </a:pPr>
            <a:r>
              <a:t>PARTITIONS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" y="3749039"/>
            <a:ext cx="3191256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500" b="1">
                <a:solidFill>
                  <a:srgbClr val="11243B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17136" y="3291840"/>
            <a:ext cx="3538728" cy="11704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90872" y="3429000"/>
            <a:ext cx="319125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62748A"/>
                </a:solidFill>
                <a:latin typeface="Aptos"/>
              </a:defRPr>
            </a:pPr>
            <a:r>
              <a:t>WORKERS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90872" y="3749039"/>
            <a:ext cx="3191256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500" b="1">
                <a:solidFill>
                  <a:srgbClr val="11243B"/>
                </a:solidFill>
                <a:latin typeface="Aptos"/>
              </a:defRPr>
            </a:pPr>
            <a:r>
              <a:t>1 / 2 /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57616" y="3291840"/>
            <a:ext cx="3538728" cy="11704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31352" y="3429000"/>
            <a:ext cx="319125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62748A"/>
                </a:solidFill>
                <a:latin typeface="Aptos"/>
              </a:defRPr>
            </a:pPr>
            <a:r>
              <a:t>MEASURED RUNS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1352" y="3749039"/>
            <a:ext cx="3191256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500" b="1">
                <a:solidFill>
                  <a:srgbClr val="11243B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1663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25364A"/>
                </a:solidFill>
                <a:latin typeface="Aptos"/>
              </a:defRPr>
            </a:pPr>
            <a:r>
              <a:t>3 repetitions per configuration  •  seeds 42, 43, 44  •  1 unmeasured warm-up per Spark-master process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806440"/>
            <a:ext cx="107899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87E8B"/>
                </a:solidFill>
                <a:latin typeface="Aptos"/>
              </a:defRPr>
            </a:pPr>
            <a:r>
              <a:t>All tests ran on one Apple M2 MacBook Air (8 GB) in Spark local mode.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D7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38328"/>
            <a:ext cx="11002975" cy="2743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100" b="1">
                <a:solidFill>
                  <a:srgbClr val="0D747D"/>
                </a:solidFill>
                <a:latin typeface="Aptos"/>
              </a:defRPr>
            </a:pPr>
            <a:r>
              <a:t>CONTROLLED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1002975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2800" b="1">
                <a:solidFill>
                  <a:srgbClr val="162C3B"/>
                </a:solidFill>
                <a:latin typeface="Aptos"/>
              </a:defRPr>
            </a:pPr>
            <a:r>
              <a:t>Within-Spark runtime speedup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5400903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84831"/>
            <a:ext cx="5035143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1.698×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035808"/>
            <a:ext cx="5108295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Synthetic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657600"/>
            <a:ext cx="5108295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local[1] → local[4]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6431" y="1737360"/>
            <a:ext cx="5400903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9311" y="2084831"/>
            <a:ext cx="5035143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1.575×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42735" y="3035808"/>
            <a:ext cx="5108295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KDD99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2735" y="3657600"/>
            <a:ext cx="5108295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local[1] → local[4]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4773168"/>
            <a:ext cx="11002975" cy="841248"/>
          </a:xfrm>
          <a:prstGeom prst="round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928616"/>
            <a:ext cx="10618927" cy="57607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400" b="0">
                <a:solidFill>
                  <a:srgbClr val="162C3B"/>
                </a:solidFill>
                <a:latin typeface="Aptos"/>
              </a:defRPr>
            </a:pPr>
            <a:r>
              <a:t>Four partitions. Speedup compares Spark local configurations—not Spark against traditional K-Means.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6446520"/>
            <a:ext cx="10820095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900" b="0">
                <a:solidFill>
                  <a:srgbClr val="566874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67567" y="6446520"/>
            <a:ext cx="658368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r">
              <a:defRPr sz="900" b="0">
                <a:solidFill>
                  <a:srgbClr val="566874"/>
                </a:solidFill>
                <a:latin typeface="Aptos"/>
              </a:defRPr>
            </a:pPr>
            <a:r>
              <a:t>09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D7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38328"/>
            <a:ext cx="11002975" cy="2743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100" b="1">
                <a:solidFill>
                  <a:srgbClr val="0D747D"/>
                </a:solidFill>
                <a:latin typeface="Aptos"/>
              </a:defRPr>
            </a:pPr>
            <a:r>
              <a:t>CONTROLLED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1002975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2800" b="1">
                <a:solidFill>
                  <a:srgbClr val="162C3B"/>
                </a:solidFill>
                <a:latin typeface="Aptos"/>
              </a:defRPr>
            </a:pPr>
            <a:r>
              <a:t>Synthetic clustering agreement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1.000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Spark 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local[4], p=4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9074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1954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1.000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5378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Spark NMI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5378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local[4], p=4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3788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6668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0.910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0092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Traditional 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0092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mean baseline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773168"/>
            <a:ext cx="11002975" cy="841248"/>
          </a:xfrm>
          <a:prstGeom prst="round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4928616"/>
            <a:ext cx="10618927" cy="57607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400" b="0">
                <a:solidFill>
                  <a:srgbClr val="162C3B"/>
                </a:solidFill>
                <a:latin typeface="Aptos"/>
              </a:defRPr>
            </a:pPr>
            <a:r>
              <a:t>Strong synthetic-label agreement; initialization and restart procedures differ across implementations.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6446520"/>
            <a:ext cx="10820095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900" b="0">
                <a:solidFill>
                  <a:srgbClr val="566874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67567" y="6446520"/>
            <a:ext cx="658368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r">
              <a:defRPr sz="900" b="0">
                <a:solidFill>
                  <a:srgbClr val="566874"/>
                </a:solidFill>
                <a:latin typeface="Aptos"/>
              </a:defRPr>
            </a:pPr>
            <a: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D7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38328"/>
            <a:ext cx="11002975" cy="2743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100" b="1">
                <a:solidFill>
                  <a:srgbClr val="0D747D"/>
                </a:solidFill>
                <a:latin typeface="Aptos"/>
              </a:defRPr>
            </a:pPr>
            <a:r>
              <a:t>CONTROLLED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1002975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2800" b="1">
                <a:solidFill>
                  <a:srgbClr val="162C3B"/>
                </a:solidFill>
                <a:latin typeface="Aptos"/>
              </a:defRPr>
            </a:pPr>
            <a:r>
              <a:t>KDD99: weak label agreement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0.055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Spark 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local[4], p=4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9074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1954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0.080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5378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Spark NMI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5378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local[4], p=4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3788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6668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0.803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0092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Spark purity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0092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local[4], p=4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773168"/>
            <a:ext cx="11002975" cy="841248"/>
          </a:xfrm>
          <a:prstGeom prst="round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4928616"/>
            <a:ext cx="10618927" cy="57607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400" b="0">
                <a:solidFill>
                  <a:srgbClr val="162C3B"/>
                </a:solidFill>
                <a:latin typeface="Aptos"/>
              </a:defRPr>
            </a:pPr>
            <a:r>
              <a:t>Low ARI/NMI indicate weak agreement with reference labels; purity alone can be misleading.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6446520"/>
            <a:ext cx="10820095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900" b="0">
                <a:solidFill>
                  <a:srgbClr val="566874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67567" y="6446520"/>
            <a:ext cx="658368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r">
              <a:defRPr sz="900" b="0">
                <a:solidFill>
                  <a:srgbClr val="566874"/>
                </a:solidFill>
                <a:latin typeface="Aptos"/>
              </a:defRPr>
            </a:pPr>
            <a: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D7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38328"/>
            <a:ext cx="11002975" cy="2743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100" b="1">
                <a:solidFill>
                  <a:srgbClr val="0D747D"/>
                </a:solidFill>
                <a:latin typeface="Aptos"/>
              </a:defRPr>
            </a:pPr>
            <a:r>
              <a:t>BASELINE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1002975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2800" b="1">
                <a:solidFill>
                  <a:srgbClr val="162C3B"/>
                </a:solidFill>
                <a:latin typeface="Aptos"/>
              </a:defRPr>
            </a:pPr>
            <a:r>
              <a:t>Traditional K-Means on small samples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5400903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84831"/>
            <a:ext cx="5035143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2600" b="1">
                <a:solidFill>
                  <a:srgbClr val="0D747D"/>
                </a:solidFill>
                <a:latin typeface="Aptos"/>
              </a:defRPr>
            </a:pPr>
            <a:r>
              <a:t>0.0702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035808"/>
            <a:ext cx="5108295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Synthetic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657600"/>
            <a:ext cx="5108295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traditional mean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6431" y="1737360"/>
            <a:ext cx="5400903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9311" y="2084831"/>
            <a:ext cx="5035143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2600" b="1">
                <a:solidFill>
                  <a:srgbClr val="0D747D"/>
                </a:solidFill>
                <a:latin typeface="Aptos"/>
              </a:defRPr>
            </a:pPr>
            <a:r>
              <a:t>0.0736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42735" y="3035808"/>
            <a:ext cx="5108295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KDD99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2735" y="3657600"/>
            <a:ext cx="5108295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traditional mean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4773168"/>
            <a:ext cx="11002975" cy="841248"/>
          </a:xfrm>
          <a:prstGeom prst="round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928616"/>
            <a:ext cx="10618927" cy="57607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400" b="0">
                <a:solidFill>
                  <a:srgbClr val="162C3B"/>
                </a:solidFill>
                <a:latin typeface="Aptos"/>
              </a:defRPr>
            </a:pPr>
            <a:r>
              <a:t>Traditional K-Means was faster on 1,000-record samples. Do not infer Spark is faster at this scale.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6446520"/>
            <a:ext cx="10820095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900" b="0">
                <a:solidFill>
                  <a:srgbClr val="566874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67567" y="6446520"/>
            <a:ext cx="658368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r">
              <a:defRPr sz="900" b="0">
                <a:solidFill>
                  <a:srgbClr val="566874"/>
                </a:solidFill>
                <a:latin typeface="Aptos"/>
              </a:defRPr>
            </a:pPr>
            <a: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Execution time falls with more workers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Mean clustering runtime across three measured runs.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13 / 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10789920" cy="40690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7585" y="1920240"/>
            <a:ext cx="6275493" cy="3730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971032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87E8B"/>
                </a:solidFill>
                <a:latin typeface="Aptos"/>
              </a:defRPr>
            </a:pPr>
            <a:r>
              <a:t>10k: 8.033s → 4.090s    |    50k: 116.765s → 39.918s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Measured speedup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Speedup is measured relative to local[1].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14 / 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10789920" cy="40690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2323" y="1920240"/>
            <a:ext cx="5886017" cy="3730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971032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87E8B"/>
                </a:solidFill>
                <a:latin typeface="Aptos"/>
              </a:defRPr>
            </a:pPr>
            <a:r>
              <a:t>local[4] achieves 1.964× at 10k and 2.925× at 50k.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Clustering quality is consistent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Mean SSE is unchanged across local worker settings at each dataset size.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15 / 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10789920" cy="40690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3691" y="1920240"/>
            <a:ext cx="8643281" cy="3730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971032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87E8B"/>
                </a:solidFill>
                <a:latin typeface="Aptos"/>
              </a:defRPr>
            </a:pPr>
            <a:r>
              <a:t>10k: 200,921.733 SSE    |    50k: 1,000,547.881 SSE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D7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38328"/>
            <a:ext cx="11002975" cy="2743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100" b="1">
                <a:solidFill>
                  <a:srgbClr val="0D747D"/>
                </a:solidFill>
                <a:latin typeface="Aptos"/>
              </a:defRPr>
            </a:pPr>
            <a:r>
              <a:t>HISTORICAL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1002975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2800" b="1">
                <a:solidFill>
                  <a:srgbClr val="162C3B"/>
                </a:solidFill>
                <a:latin typeface="Aptos"/>
              </a:defRPr>
            </a:pPr>
            <a:r>
              <a:t>Separate synthetic scalability evaluation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historical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not part of the 42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9074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1954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2600" b="1">
                <a:solidFill>
                  <a:srgbClr val="0D747D"/>
                </a:solidFill>
                <a:latin typeface="Aptos"/>
              </a:defRPr>
            </a:pPr>
            <a:r>
              <a:t>10K / 50K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5378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5378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20 numerical features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3788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6668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2.925×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0092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50K speedup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0092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local[1] → local[4]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773168"/>
            <a:ext cx="11002975" cy="841248"/>
          </a:xfrm>
          <a:prstGeom prst="round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4928616"/>
            <a:ext cx="10618927" cy="57607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400" b="0">
                <a:solidFill>
                  <a:srgbClr val="162C3B"/>
                </a:solidFill>
                <a:latin typeface="Aptos"/>
              </a:defRPr>
            </a:pPr>
            <a:r>
              <a:t>Three seeds per configuration; single-computer Spark local mode, not a physical cluster.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6446520"/>
            <a:ext cx="10820095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900" b="0">
                <a:solidFill>
                  <a:srgbClr val="566874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67567" y="6446520"/>
            <a:ext cx="658368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r">
              <a:defRPr sz="900" b="0">
                <a:solidFill>
                  <a:srgbClr val="566874"/>
                </a:solidFill>
                <a:latin typeface="Aptos"/>
              </a:defRPr>
            </a:pPr>
            <a: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Traditional baseline: initialization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Single versus multiple initializations on the same 10k-record baseline.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17 / 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10789920" cy="40690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7584" y="1920240"/>
            <a:ext cx="6335495" cy="3730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971032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87E8B"/>
                </a:solidFill>
                <a:latin typeface="Aptos"/>
              </a:defRPr>
            </a:pPr>
            <a:r>
              <a:t>One seed produced higher SSE with a single initialization; multiple starts improved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RESEARCH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Paper versus our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Same high-level workflow, different experimental scope and design choices.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18 / 23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1847088"/>
            <a:ext cx="2286000" cy="594360"/>
          </a:xfrm>
          <a:prstGeom prst="rect">
            <a:avLst/>
          </a:prstGeom>
          <a:solidFill>
            <a:srgbClr val="11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93392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Dimension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1847088"/>
            <a:ext cx="4096512" cy="594360"/>
          </a:xfrm>
          <a:prstGeom prst="rect">
            <a:avLst/>
          </a:prstGeom>
          <a:solidFill>
            <a:srgbClr val="11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36391" y="1993392"/>
            <a:ext cx="391363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Original research [1]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0" y="1847088"/>
            <a:ext cx="4297680" cy="594360"/>
          </a:xfrm>
          <a:prstGeom prst="rect">
            <a:avLst/>
          </a:prstGeom>
          <a:solidFill>
            <a:srgbClr val="11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51192" y="1993392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Our project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" y="2468880"/>
            <a:ext cx="228600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2578608"/>
            <a:ext cx="210312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5364A"/>
                </a:solidFill>
                <a:latin typeface="Aptos"/>
              </a:defRPr>
            </a:pPr>
            <a:r>
              <a:t>Execution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2468880"/>
            <a:ext cx="4096512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27248" y="2578608"/>
            <a:ext cx="3913632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5364A"/>
                </a:solidFill>
                <a:latin typeface="Aptos"/>
              </a:defRPr>
            </a:pPr>
            <a:r>
              <a:t>Distributed computing environment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0" y="2468880"/>
            <a:ext cx="42976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42048" y="2578608"/>
            <a:ext cx="411480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5364A"/>
                </a:solidFill>
                <a:latin typeface="Aptos"/>
              </a:defRPr>
            </a:pPr>
            <a:r>
              <a:t>Single-machine Spark local mode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" y="3191256"/>
            <a:ext cx="2286000" cy="694944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" y="3300984"/>
            <a:ext cx="210312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5364A"/>
                </a:solidFill>
                <a:latin typeface="Aptos"/>
              </a:defRPr>
            </a:pPr>
            <a:r>
              <a:t>Datasets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17520" y="3191256"/>
            <a:ext cx="4096512" cy="694944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27248" y="3300984"/>
            <a:ext cx="3913632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5364A"/>
                </a:solidFill>
                <a:latin typeface="Aptos"/>
              </a:defRPr>
            </a:pPr>
            <a:r>
              <a:t>KDD Cup 99 and large synthetic data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0" y="3191256"/>
            <a:ext cx="4297680" cy="694944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42048" y="3300984"/>
            <a:ext cx="411480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5364A"/>
                </a:solidFill>
                <a:latin typeface="Aptos"/>
              </a:defRPr>
            </a:pPr>
            <a:r>
              <a:t>10k / 50k synthetic records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4088" y="3913632"/>
            <a:ext cx="228600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" y="4023360"/>
            <a:ext cx="210312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5364A"/>
                </a:solidFill>
                <a:latin typeface="Aptos"/>
              </a:defRPr>
            </a:pPr>
            <a:r>
              <a:t>Initialization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017520" y="3913632"/>
            <a:ext cx="4096512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27248" y="4023360"/>
            <a:ext cx="3913632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5364A"/>
                </a:solidFill>
                <a:latin typeface="Aptos"/>
              </a:defRPr>
            </a:pPr>
            <a:r>
              <a:t>Partition-level initialization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0" y="3913632"/>
            <a:ext cx="42976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42048" y="4023360"/>
            <a:ext cx="411480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5364A"/>
                </a:solidFill>
                <a:latin typeface="Aptos"/>
              </a:defRPr>
            </a:pPr>
            <a:r>
              <a:t>Local K-Means++ and 5 aggregation restarts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4088" y="4636008"/>
            <a:ext cx="2286000" cy="694944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3816" y="4745736"/>
            <a:ext cx="210312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5364A"/>
                </a:solidFill>
                <a:latin typeface="Aptos"/>
              </a:defRPr>
            </a:pPr>
            <a:r>
              <a:t>Global update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17520" y="4636008"/>
            <a:ext cx="4096512" cy="694944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27248" y="4745736"/>
            <a:ext cx="3913632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5364A"/>
                </a:solidFill>
                <a:latin typeface="Aptos"/>
              </a:defRPr>
            </a:pPr>
            <a:r>
              <a:t>Parallel assignment and aggregation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32320" y="4636008"/>
            <a:ext cx="4297680" cy="694944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42048" y="4745736"/>
            <a:ext cx="411480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5364A"/>
                </a:solidFill>
                <a:latin typeface="Aptos"/>
              </a:defRPr>
            </a:pPr>
            <a:r>
              <a:t>Broadcast + reduceByKey + SSE convergence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8064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87E8B"/>
                </a:solidFill>
                <a:latin typeface="Aptos"/>
              </a:defRPr>
            </a:pPr>
            <a:r>
              <a:t>Raw runtime and SSE are not directly comparable across these two studies.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199632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AACDEB"/>
                </a:solidFill>
              </a:rPr>
              <a:t>Scope: historical 10K/50K synthetic runs; controlled 1K synthetic + KDD99 runs.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Live demo: show the algorithm 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Small input, clear output, predictable execution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19 / 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847088"/>
            <a:ext cx="3447288" cy="31089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2103120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103120"/>
            <a:ext cx="288036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1  Partition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779776"/>
            <a:ext cx="2862072" cy="2084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5364A"/>
                </a:solidFill>
                <a:latin typeface="Aptos"/>
              </a:defRPr>
            </a:pPr>
            <a:r>
              <a:t>Show how records are divided into Spark partitions.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847088"/>
            <a:ext cx="3447288" cy="31089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2103120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2103120"/>
            <a:ext cx="288036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2  Cluster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779776"/>
            <a:ext cx="2862072" cy="2084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5364A"/>
                </a:solidFill>
                <a:latin typeface="Aptos"/>
              </a:defRPr>
            </a:pPr>
            <a:r>
              <a:t>Run a short Parallel K-Means demonstration.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1" y="1847088"/>
            <a:ext cx="3447288" cy="31089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2103120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103120"/>
            <a:ext cx="288036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3  Interpret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779776"/>
            <a:ext cx="2862072" cy="2084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5364A"/>
                </a:solidFill>
                <a:latin typeface="Aptos"/>
              </a:defRPr>
            </a:pPr>
            <a:r>
              <a:t>Explain centers, convergence, and SSE.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" y="5321808"/>
            <a:ext cx="10241280" cy="585216"/>
          </a:xfrm>
          <a:prstGeom prst="roundRect">
            <a:avLst>
              <a:gd name="adj" fmla="val 14000"/>
            </a:avLst>
          </a:prstGeom>
          <a:solidFill>
            <a:srgbClr val="DF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07008" y="545896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87E8B"/>
                </a:solidFill>
                <a:latin typeface="Aptos"/>
              </a:defRPr>
            </a:pPr>
            <a:r>
              <a:t>Demo scripts: scripts/demo_partitioning.py   •   scripts/demo_parallel_kmeans.py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D7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38328"/>
            <a:ext cx="11002975" cy="2743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100" b="1">
                <a:solidFill>
                  <a:srgbClr val="0D747D"/>
                </a:solidFill>
                <a:latin typeface="Aptos"/>
              </a:defRPr>
            </a:pPr>
            <a:r>
              <a:t>RESEARCH CAVEATS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1002975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2800" b="1">
                <a:solidFill>
                  <a:srgbClr val="162C3B"/>
                </a:solidFill>
                <a:latin typeface="Aptos"/>
              </a:defRPr>
            </a:pPr>
            <a:r>
              <a:t>Limitations of the evidence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computer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Spark local[n]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9074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1954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5378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seeds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5378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limited uncertainty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3788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6668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1K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0092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sample size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0092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controlled evaluation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773168"/>
            <a:ext cx="11002975" cy="841248"/>
          </a:xfrm>
          <a:prstGeom prst="round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4928616"/>
            <a:ext cx="10618927" cy="57607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400" b="0">
                <a:solidFill>
                  <a:srgbClr val="162C3B"/>
                </a:solidFill>
                <a:latin typeface="Aptos"/>
              </a:defRPr>
            </a:pPr>
            <a:r>
              <a:t>Initialization differs across baselines. Historical and controlled studies remain separate. No exact IEEE reproduction claim.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6446520"/>
            <a:ext cx="10820095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900" b="0">
                <a:solidFill>
                  <a:srgbClr val="566874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67567" y="6446520"/>
            <a:ext cx="658368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r">
              <a:defRPr sz="900" b="0">
                <a:solidFill>
                  <a:srgbClr val="566874"/>
                </a:solidFill>
                <a:latin typeface="Aptos"/>
              </a:defRPr>
            </a:pPr>
            <a: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KEY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Historical scalability findings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21 /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38528"/>
            <a:ext cx="3291840" cy="11704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2075688"/>
            <a:ext cx="2944368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62748A"/>
                </a:solidFill>
                <a:latin typeface="Aptos"/>
              </a:defRPr>
            </a:pPr>
            <a:r>
              <a:t>BEST OBSERVED SPEEDUP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395728"/>
            <a:ext cx="294436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500" b="1">
                <a:solidFill>
                  <a:srgbClr val="11243B"/>
                </a:solidFill>
                <a:latin typeface="Aptos"/>
              </a:defRPr>
            </a:pPr>
            <a:r>
              <a:t>2.925×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25696" y="1938528"/>
            <a:ext cx="3291840" cy="11704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2075688"/>
            <a:ext cx="2944368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62748A"/>
                </a:solidFill>
                <a:latin typeface="Aptos"/>
              </a:defRPr>
            </a:pPr>
            <a:r>
              <a:t>RUNTIME REDUCTION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95728"/>
            <a:ext cx="294436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500" b="1">
                <a:solidFill>
                  <a:srgbClr val="11243B"/>
                </a:solidFill>
                <a:latin typeface="Aptos"/>
              </a:defRPr>
            </a:pPr>
            <a:r>
              <a:t>65.81%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8" y="1938528"/>
            <a:ext cx="3291840" cy="11704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8744" y="2075688"/>
            <a:ext cx="2944368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HISTORICAL RUNS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95728"/>
            <a:ext cx="294436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500" b="1">
                <a:solidFill>
                  <a:srgbClr val="11243B"/>
                </a:solidFill>
                <a:latin typeface="Aptos"/>
              </a:defRPr>
            </a:pPr>
            <a:r>
              <a:t>18 / 18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547872"/>
            <a:ext cx="5138928" cy="19019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78408" y="3803904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1288" y="3803904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4480560"/>
            <a:ext cx="4553712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5364A"/>
                </a:solidFill>
                <a:latin typeface="Aptos"/>
              </a:defRPr>
            </a:pPr>
            <a:r>
              <a:t>More local workers reduced runtime on both tested dataset sizes.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3547872"/>
            <a:ext cx="5138928" cy="19019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45936" y="3803904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803904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7376" y="4480560"/>
            <a:ext cx="4553712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5364A"/>
                </a:solidFill>
                <a:latin typeface="Aptos"/>
              </a:defRPr>
            </a:pPr>
            <a:r>
              <a:t>These findings do not establish multi-node or real-world scalability.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D7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38328"/>
            <a:ext cx="11002975" cy="2743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100" b="1">
                <a:solidFill>
                  <a:srgbClr val="0D747D"/>
                </a:solidFill>
                <a:latin typeface="Aptos"/>
              </a:defRPr>
            </a:pPr>
            <a:r>
              <a:t>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1002975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2800" b="1">
                <a:solidFill>
                  <a:srgbClr val="162C3B"/>
                </a:solidFill>
                <a:latin typeface="Aptos"/>
              </a:defRPr>
            </a:pPr>
            <a:r>
              <a:t>What the experiments demonstrate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1.698×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Synthetic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controlled Spark speedup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9074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1954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1.575×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5378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KDD99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5378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controlled Spark speedup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3788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6668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0.055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0092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KDD99 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0092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weak label agreement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773168"/>
            <a:ext cx="11002975" cy="841248"/>
          </a:xfrm>
          <a:prstGeom prst="round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4928616"/>
            <a:ext cx="10618927" cy="57607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400" b="0">
                <a:solidFill>
                  <a:srgbClr val="162C3B"/>
                </a:solidFill>
                <a:latin typeface="Aptos"/>
              </a:defRPr>
            </a:pPr>
            <a:r>
              <a:t>Local parallelism reduced Spark runtime; traditional remained faster at 1K. Larger synthetic runs showed stronger scaling.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6446520"/>
            <a:ext cx="10820095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900" b="0">
                <a:solidFill>
                  <a:srgbClr val="566874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67567" y="6446520"/>
            <a:ext cx="658368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r">
              <a:defRPr sz="900" b="0">
                <a:solidFill>
                  <a:srgbClr val="566874"/>
                </a:solidFill>
                <a:latin typeface="Aptos"/>
              </a:defRPr>
            </a:pPr>
            <a: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CLOSING &amp;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Thank you — 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Parallel K-Means clustering using Apache Spark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23 / 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92224"/>
            <a:ext cx="10817352" cy="1005840"/>
          </a:xfrm>
          <a:prstGeom prst="roundRect">
            <a:avLst>
              <a:gd name="adj" fmla="val 14000"/>
            </a:avLst>
          </a:prstGeom>
          <a:solidFill>
            <a:srgbClr val="11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029968"/>
            <a:ext cx="10149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Historical synthetic local[4] speedup: 2.925× at 50,000 records — with consistent mean SSE across local settings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1546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5364A"/>
                </a:solidFill>
                <a:latin typeface="Aptos"/>
              </a:defRPr>
            </a:pPr>
            <a:r>
              <a:t>[1] H. Liu et al., “Big data clustering method based on parallel K-means,” IEEE ICPECA, 2024.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67588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5364A"/>
                </a:solidFill>
                <a:latin typeface="Aptos"/>
              </a:defRPr>
            </a:pPr>
            <a:r>
              <a:t>[2] S. P. Lloyd, “Least squares quantization in PCM,” IEEE Trans. Inf. Theory, 1982.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41970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5364A"/>
                </a:solidFill>
                <a:latin typeface="Aptos"/>
              </a:defRPr>
            </a:pPr>
            <a:r>
              <a:t>[3] D. Arthur and S. Vassilvitskii, “k-means++,” SODA, 2007.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471830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5364A"/>
                </a:solidFill>
                <a:latin typeface="Aptos"/>
              </a:defRPr>
            </a:pPr>
            <a:r>
              <a:t>[4] B. Bahmani et al., “Scalable K-Means++,” PVLDB, 2012.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523951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5364A"/>
                </a:solidFill>
                <a:latin typeface="Aptos"/>
              </a:defRPr>
            </a:pPr>
            <a:r>
              <a:t>[5] Apache Software Foundation, “RDD Programming Guide,” Spark Documentation.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