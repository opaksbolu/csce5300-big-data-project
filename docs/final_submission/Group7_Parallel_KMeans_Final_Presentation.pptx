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71" r:id="rId8"/>
    <p:sldId id="262" r:id="rId9"/>
    <p:sldId id="272" r:id="rId10"/>
    <p:sldId id="273" r:id="rId11"/>
    <p:sldId id="274" r:id="rId12"/>
    <p:sldId id="275" r:id="rId13"/>
    <p:sldId id="263" r:id="rId14"/>
    <p:sldId id="264" r:id="rId15"/>
    <p:sldId id="265" r:id="rId16"/>
    <p:sldId id="276" r:id="rId17"/>
    <p:sldId id="266" r:id="rId18"/>
    <p:sldId id="267" r:id="rId19"/>
    <p:sldId id="268" r:id="rId20"/>
    <p:sldId id="277" r:id="rId21"/>
    <p:sldId id="269" r:id="rId22"/>
    <p:sldId id="278" r:id="rId23"/>
    <p:sldId id="279" r:id="rId30"/>
    <p:sldId id="270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4"/>
  </p:normalViewPr>
  <p:slideViewPr>
    <p:cSldViewPr snapToGrid="0" snapToObjects="1">
      <p:cViewPr varScale="1">
        <p:scale>
          <a:sx n="106" d="100"/>
          <a:sy n="106" d="100"/>
        </p:scale>
        <p:origin x="69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4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4945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Group 7, the research topic, and the goal of evaluating parallel clustering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why clustering matters in big data analytics and why execution time becomes important as datasets grow.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Identify the approved paper and distinguish its proposed method from the implementation developed for this course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the iterative K-Means procedure. Explain that lower SSE means observations are closer to their assigned centers, but comparisons must use the same dataset and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partition-level initialization and subsequent global refinement. Avoid claiming that this pipeline is identical to every step of the published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Describe the implemented software components and how Spark is used. Clarify that the tested local configurations run on one physical computer.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controlled variables and the repeated experimental design. local[1], local[2], and local[4] represent local execution parallelism, not three separate cluster machines.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Discuss the runtime figure and the reduction in measured execution time as local parallelism increases.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speedup calculation and why overhead, coordination, and hardware constraints can prevent perfect linear scaling.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SSE and why the consistency across worker settings matters. Do not infer that the larger dataset has inherently worse clustering solely from its larger total 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 the baseline figure against the final report before presenting. Do not make numerical baseline claims that have not been verified from the original baseline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Make a careful qualitative comparison with the paper. Check the report's paper-comparison section before adding any quantitative claims about published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a short, rehearsed demonstration. Confirm the exact command and expected output before presentation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Summarize the findings without claiming that local-mode experiments prove general distributed scalability.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submission, replace the abbreviated paper reference with the complete verified IEEE citation and add any references needed for slide-specific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RESEARCH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Parallel K-Means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Apache Spark implementation &amp; performance evaluation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01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10881360" cy="2423160"/>
          </a:xfrm>
          <a:prstGeom prst="roundRect">
            <a:avLst>
              <a:gd name="adj" fmla="val 14000"/>
            </a:avLst>
          </a:prstGeom>
          <a:solidFill>
            <a:srgbClr val="11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8" y="2359152"/>
            <a:ext cx="98755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A research-inspired approach to faster clustering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383280"/>
            <a:ext cx="9784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D1E8EA"/>
                </a:solidFill>
                <a:latin typeface="Aptos"/>
              </a:defRPr>
            </a:pPr>
            <a:r>
              <a:t>Partition-level K-Means  →  candidate-center aggregation  →  distributed refinement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75488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Chidiebere Abonyi   •   Anaelle Manzi   •   Dinh Nguyen   •   Abdul-Azeem Opakunle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Why parallelize K-Means?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Repeated nearest-center calculations become costly as data grows.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02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3520440" cy="3154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59536" y="2221991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2415" y="2221991"/>
            <a:ext cx="295351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The challenge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898648"/>
            <a:ext cx="2935224" cy="2130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Traditional K-Means iterates through assignment and center updates on the full dataset.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965960"/>
            <a:ext cx="3520440" cy="3154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35424" y="2221991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18304" y="2221991"/>
            <a:ext cx="295351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The opportunity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2898648"/>
            <a:ext cx="2935224" cy="2130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Partition-level computation can use multiple local worker threads to process data in parallel.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1965960"/>
            <a:ext cx="3520440" cy="3154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11312" y="2221991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94192" y="2221991"/>
            <a:ext cx="295351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The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898648"/>
            <a:ext cx="2935224" cy="2130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Can execution time decrease without changing the measured clustering quality?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Research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Inspired by Liu et al. (2024), IEEE ICPECA, document 10470970.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03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19"/>
            <a:ext cx="5166360" cy="3474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32688" y="213055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130552"/>
            <a:ext cx="459943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Paper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807208"/>
            <a:ext cx="4581144" cy="24505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5364A"/>
                </a:solidFill>
                <a:latin typeface="Aptos"/>
              </a:defRPr>
            </a:pPr>
            <a:r>
              <a:t>Partition-based local clustering, combined candidate centers, and iterative global refinement.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874519"/>
            <a:ext cx="5166360" cy="3474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27648" y="213055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0528" y="2130552"/>
            <a:ext cx="459943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Our contribution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807208"/>
            <a:ext cx="4581144" cy="24505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5364A"/>
                </a:solidFill>
                <a:latin typeface="Aptos"/>
              </a:defRPr>
            </a:pPr>
            <a:r>
              <a:t>A custom Python / PySpark implementation with controlled experiments and a traditional K-Means baseline.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41848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87E8B"/>
                </a:solidFill>
                <a:latin typeface="Aptos"/>
              </a:defRPr>
            </a:pPr>
            <a:r>
              <a:t>Research-inspired adaptation — not a line-by-line replication or a reproduction of the paper’s multi-node results.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ALGORITHM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Traditional K-Means in four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04 / 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5230368" cy="171907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86968" y="203911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9848" y="2039112"/>
            <a:ext cx="46634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01  Initialize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715768"/>
            <a:ext cx="4645152" cy="694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Choose K starting centers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783080"/>
            <a:ext cx="5230368" cy="171907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91655" y="203911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74536" y="2039112"/>
            <a:ext cx="46634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02  Assign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2715768"/>
            <a:ext cx="4645152" cy="694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Find nearest center for each point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49039"/>
            <a:ext cx="5230368" cy="171907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86968" y="400507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69848" y="4005072"/>
            <a:ext cx="46634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03  Update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4681727"/>
            <a:ext cx="4645152" cy="694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Recalculate cluster means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0488" y="3749039"/>
            <a:ext cx="5230368" cy="171907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91655" y="400507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74536" y="4005072"/>
            <a:ext cx="46634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04  Repeat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6" y="4681727"/>
            <a:ext cx="4645152" cy="694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Stop when convergence is reached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96188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87E8B"/>
                </a:solidFill>
                <a:latin typeface="Aptos"/>
              </a:defRPr>
            </a:pPr>
            <a:r>
              <a:t>Objective: minimize within-cluster sum of squared errors (SSE).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Parallel K-Means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A visual summary of the nine-step implementation.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05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920240"/>
            <a:ext cx="3538728" cy="1463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2121408"/>
            <a:ext cx="3108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87E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551176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Dataset + RDD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505456"/>
            <a:ext cx="274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87E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920240"/>
            <a:ext cx="3538728" cy="1463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8" y="2121408"/>
            <a:ext cx="3108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87E8B"/>
                </a:solidFill>
                <a:latin typeface="Aptos"/>
              </a:defRPr>
            </a:pPr>
            <a:r>
              <a:t>PARTITION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551176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4 Spark partitions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505456"/>
            <a:ext cx="274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87E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920240"/>
            <a:ext cx="3538728" cy="1463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76488" y="2121408"/>
            <a:ext cx="3108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87E8B"/>
                </a:solidFill>
                <a:latin typeface="Aptos"/>
              </a:defRPr>
            </a:pPr>
            <a:r>
              <a:t>LOCAL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551176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K-Means in each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931920"/>
            <a:ext cx="3538728" cy="1463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5528" y="4133088"/>
            <a:ext cx="3108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87E8B"/>
                </a:solidFill>
                <a:latin typeface="Aptos"/>
              </a:defRPr>
            </a:pPr>
            <a: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562856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Candidate centers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4517136"/>
            <a:ext cx="274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87E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931920"/>
            <a:ext cx="3538728" cy="1463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4133088"/>
            <a:ext cx="3108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87E8B"/>
                </a:solidFill>
                <a:latin typeface="Aptos"/>
              </a:defRPr>
            </a:pPr>
            <a:r>
              <a:t>AGGREGATE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562856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5 restarts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4517136"/>
            <a:ext cx="274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87E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3931920"/>
            <a:ext cx="3538728" cy="1463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6488" y="4133088"/>
            <a:ext cx="3108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87E8B"/>
                </a:solidFill>
                <a:latin typeface="Aptos"/>
              </a:defRPr>
            </a:pPr>
            <a:r>
              <a:t>GLOBAL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6488" y="4562856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Distributed updates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6126480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Final output: global cluster centers, SSE, convergence status, and cluster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Implementation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06 / 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5257800" cy="349300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86968" y="203911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9848" y="2039112"/>
            <a:ext cx="469087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Local computation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715768"/>
            <a:ext cx="4672584" cy="24688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mapPartitionsWithIndex</a:t>
            </a:r>
          </a:p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Custom K-Means++ initialization</a:t>
            </a:r>
          </a:p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Candidate-center generation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83080"/>
            <a:ext cx="5257800" cy="349300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73368" y="203911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56248" y="2039112"/>
            <a:ext cx="469087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Global computation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2715768"/>
            <a:ext cx="4672584" cy="24688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Broadcast current centers</a:t>
            </a:r>
          </a:p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reduceByKey cluster statistics</a:t>
            </a:r>
          </a:p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Iterate until SSE-change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5669280"/>
            <a:ext cx="106070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87E8B"/>
                </a:solidFill>
                <a:latin typeface="Aptos"/>
              </a:defRPr>
            </a:pPr>
            <a:r>
              <a:t>Custom implementation — not a call to Spark MLlib’s K-Means estimator.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CONTROLLED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Experimental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total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36 Spark + 6 traditional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11954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datasets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Synthetic + KDD99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8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6668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092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random seeds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42, 43, 44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Each sample has 1,000 records. Spark configurations: local[1], local[2], local[4]; 2 or 4 partitions.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Historical synthetic scalability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Historical repeated synthetic study: 10K and 50K records, 3 seeds, one machine.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08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1847088"/>
            <a:ext cx="3538728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0392" y="1984248"/>
            <a:ext cx="319125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DATASETS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04288"/>
            <a:ext cx="319125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10k / 50k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7136" y="1847088"/>
            <a:ext cx="3538728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90872" y="1984248"/>
            <a:ext cx="319125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304288"/>
            <a:ext cx="319125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57616" y="1847088"/>
            <a:ext cx="3538728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31352" y="1984248"/>
            <a:ext cx="319125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CLUSTERS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2" y="2304288"/>
            <a:ext cx="319125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" y="3291840"/>
            <a:ext cx="3538728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0392" y="3429000"/>
            <a:ext cx="319125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PARTITIONS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3749039"/>
            <a:ext cx="319125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17136" y="3291840"/>
            <a:ext cx="3538728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90872" y="3429000"/>
            <a:ext cx="319125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WORKERS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0872" y="3749039"/>
            <a:ext cx="319125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1 / 2 /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57616" y="3291840"/>
            <a:ext cx="3538728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31352" y="3429000"/>
            <a:ext cx="319125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MEASURED RUNS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2" y="3749039"/>
            <a:ext cx="319125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166360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5364A"/>
                </a:solidFill>
                <a:latin typeface="Aptos"/>
              </a:defRPr>
            </a:pPr>
            <a:r>
              <a:t>3 repetitions per configuration  •  seeds 42, 43, 44  •  1 unmeasured warm-up per Spark-master process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806440"/>
            <a:ext cx="10789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87E8B"/>
                </a:solidFill>
                <a:latin typeface="Aptos"/>
              </a:defRPr>
            </a:pPr>
            <a:r>
              <a:t>All tests ran on one Apple M2 MacBook Air (8 GB) in Spark local mode.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CONTROLLED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Within-Spark runtime speedup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5400903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5035143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1.698×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5108295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Synthetic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5108295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local[1] → local[4]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6431" y="1737360"/>
            <a:ext cx="5400903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79311" y="2084831"/>
            <a:ext cx="5035143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1.575×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2735" y="3035808"/>
            <a:ext cx="5108295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KDD99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2735" y="3657600"/>
            <a:ext cx="5108295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local[1] → local[4]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Four partitions. Speedup compares Spark local configurations—not Spark against traditional K-Means.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CONTROLLED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Synthetic clustering agreement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1.000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Spark 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local[4], p=4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11954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1.000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Spark NMI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local[4], p=4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8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6668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0.910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092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Traditional 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mean baseline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Strong synthetic-label agreement; initialization and restart procedures differ across implementations.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CONTROLLED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KDD99: weak label agreement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0.055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Spark 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local[4], p=4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11954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0.080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Spark NMI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local[4], p=4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8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6668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0.803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092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Spark purity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local[4], p=4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Low ARI/NMI indicate weak agreement with reference labels; purity alone can be misleading.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BASELINE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Traditional K-Means on small samples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5400903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5035143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2600" b="1">
                <a:solidFill>
                  <a:srgbClr val="0D747D"/>
                </a:solidFill>
                <a:latin typeface="Aptos"/>
              </a:defRPr>
            </a:pPr>
            <a:r>
              <a:t>0.0702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5108295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Synthetic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5108295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traditional mean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6431" y="1737360"/>
            <a:ext cx="5400903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79311" y="2084831"/>
            <a:ext cx="5035143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2600" b="1">
                <a:solidFill>
                  <a:srgbClr val="0D747D"/>
                </a:solidFill>
                <a:latin typeface="Aptos"/>
              </a:defRPr>
            </a:pPr>
            <a:r>
              <a:t>0.0736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2735" y="3035808"/>
            <a:ext cx="5108295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KDD99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2735" y="3657600"/>
            <a:ext cx="5108295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traditional mean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Traditional K-Means was faster on 1,000-record samples. Do not infer Spark is faster at this scale.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Execution time falls with more workers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Mean clustering runtime across three measured runs.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13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10789920" cy="4069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7585" y="1920240"/>
            <a:ext cx="6275493" cy="3730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971032"/>
            <a:ext cx="10698480" cy="393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87E8B"/>
                </a:solidFill>
                <a:latin typeface="Aptos"/>
              </a:defRPr>
            </a:pPr>
            <a:r>
              <a:t>10k: 8.033s → 4.090s    |    50k: 116.765s → 39.918s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Measured speedup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Speedup is measured relative to local[1].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14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10789920" cy="4069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2323" y="1920240"/>
            <a:ext cx="5886017" cy="3730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971032"/>
            <a:ext cx="10698480" cy="393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87E8B"/>
                </a:solidFill>
                <a:latin typeface="Aptos"/>
              </a:defRPr>
            </a:pPr>
            <a:r>
              <a:t>local[4] achieves 1.964× at 10k and 2.925× at 50k.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Clustering quality is consistent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Mean SSE is unchanged across local worker settings at each dataset size.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15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10789920" cy="4069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3691" y="1920240"/>
            <a:ext cx="8643281" cy="3730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971032"/>
            <a:ext cx="10698480" cy="393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87E8B"/>
                </a:solidFill>
                <a:latin typeface="Aptos"/>
              </a:defRPr>
            </a:pPr>
            <a:r>
              <a:t>10k: 200,921.733 SSE    |    50k: 1,000,547.881 SSE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HISTORICAL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Separate synthetic scalability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historical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not part of the 42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11954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2600" b="1">
                <a:solidFill>
                  <a:srgbClr val="0D747D"/>
                </a:solidFill>
                <a:latin typeface="Aptos"/>
              </a:defRPr>
            </a:pPr>
            <a:r>
              <a:t>10K / 50K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20 numerical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8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6668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2.925×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092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50K speedup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local[1] → local[4]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Three seeds per configuration; single-computer Spark local mode, not a physical cluster.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Traditional baseline: initialization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Single versus multiple initializations on the same 10k-record baseline.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17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10789920" cy="4069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7584" y="1920240"/>
            <a:ext cx="6335495" cy="3730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971032"/>
            <a:ext cx="10698480" cy="393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87E8B"/>
                </a:solidFill>
                <a:latin typeface="Aptos"/>
              </a:defRPr>
            </a:pPr>
            <a:r>
              <a:t>One seed produced higher SSE with a single initialization; multiple starts improved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RESEARCH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Paper versus our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Same high-level workflow, different experimental scope and design choices.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18 /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1847088"/>
            <a:ext cx="2286000" cy="594360"/>
          </a:xfrm>
          <a:prstGeom prst="rect">
            <a:avLst/>
          </a:prstGeom>
          <a:solidFill>
            <a:srgbClr val="11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993392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Dimension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1847088"/>
            <a:ext cx="4096512" cy="594360"/>
          </a:xfrm>
          <a:prstGeom prst="rect">
            <a:avLst/>
          </a:prstGeom>
          <a:solidFill>
            <a:srgbClr val="11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36391" y="1993392"/>
            <a:ext cx="391363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Original research [1]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1847088"/>
            <a:ext cx="4297680" cy="594360"/>
          </a:xfrm>
          <a:prstGeom prst="rect">
            <a:avLst/>
          </a:prstGeom>
          <a:solidFill>
            <a:srgbClr val="11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51192" y="199339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Our project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" y="2468880"/>
            <a:ext cx="2286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3816" y="2578608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5364A"/>
                </a:solidFill>
                <a:latin typeface="Aptos"/>
              </a:defRPr>
            </a:pPr>
            <a:r>
              <a:t>Execution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2468880"/>
            <a:ext cx="4096512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27248" y="2578608"/>
            <a:ext cx="3913632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Distributed computing environment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2468880"/>
            <a:ext cx="42976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42048" y="2578608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Single-machine Spark local mode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" y="3191256"/>
            <a:ext cx="2286000" cy="694944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3816" y="3300984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5364A"/>
                </a:solidFill>
                <a:latin typeface="Aptos"/>
              </a:defRPr>
            </a:pPr>
            <a:r>
              <a:t>Datasets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3191256"/>
            <a:ext cx="4096512" cy="694944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127248" y="3300984"/>
            <a:ext cx="3913632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KDD Cup 99 and large synthetic data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3191256"/>
            <a:ext cx="4297680" cy="694944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242048" y="3300984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10k / 50k synthetic records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" y="3913632"/>
            <a:ext cx="2286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13816" y="4023360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5364A"/>
                </a:solidFill>
                <a:latin typeface="Aptos"/>
              </a:defRPr>
            </a:pPr>
            <a:r>
              <a:t>Initialization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17520" y="3913632"/>
            <a:ext cx="4096512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27248" y="4023360"/>
            <a:ext cx="3913632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Partition-level initialization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3913632"/>
            <a:ext cx="42976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242048" y="4023360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Local K-Means++ and 5 aggregation restarts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4088" y="4636008"/>
            <a:ext cx="2286000" cy="694944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3816" y="4745736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5364A"/>
                </a:solidFill>
                <a:latin typeface="Aptos"/>
              </a:defRPr>
            </a:pPr>
            <a:r>
              <a:t>Global update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17520" y="4636008"/>
            <a:ext cx="4096512" cy="694944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127248" y="4745736"/>
            <a:ext cx="3913632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Parallel assignment and aggregation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0" y="4636008"/>
            <a:ext cx="4297680" cy="694944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242048" y="4745736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Broadcast + reduceByKey + SSE convergence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80644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87E8B"/>
                </a:solidFill>
                <a:latin typeface="Aptos"/>
              </a:defRPr>
            </a:pPr>
            <a:r>
              <a:t>Raw runtime and SSE are not directly comparable across these two studies.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199632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ACDEB"/>
                </a:solidFill>
              </a:rPr>
              <a:t>Scope: historical 10K/50K synthetic runs; controlled 1K synthetic + KDD99 runs.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Live demo: show the algorithm 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Small input, clear output, predictable execution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19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47088"/>
            <a:ext cx="3447288" cy="31089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400" y="2103120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10312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1  Partition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79776"/>
            <a:ext cx="2862072" cy="2084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Show how records are divided into Spark partitions.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847088"/>
            <a:ext cx="3447288" cy="31089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0" y="2103120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54880" y="210312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2  Cluster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779776"/>
            <a:ext cx="2862072" cy="2084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Run a short Parallel K-Means demonstration.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847088"/>
            <a:ext cx="3447288" cy="31089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2103120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210312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3  Interpret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779776"/>
            <a:ext cx="2862072" cy="2084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Explain centers, convergence, and SSE.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5321808"/>
            <a:ext cx="10241280" cy="585216"/>
          </a:xfrm>
          <a:prstGeom prst="roundRect">
            <a:avLst>
              <a:gd name="adj" fmla="val 14000"/>
            </a:avLst>
          </a:prstGeom>
          <a:solidFill>
            <a:srgbClr val="DF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07008" y="5458968"/>
            <a:ext cx="9784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87E8B"/>
                </a:solidFill>
                <a:latin typeface="Aptos"/>
              </a:defRPr>
            </a:pPr>
            <a:r>
              <a:t>Demo scripts: scripts/demo_partitioning.py   •   scripts/demo_parallel_kmeans.py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RESEARCH CAVEATS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Limitations of the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computer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Spark local[n]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11954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limited uncertainty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8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6668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092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sample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controlled evaluation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Initialization differs across baselines. Historical and controlled studies remain separate. No exact IEEE reproduction claim.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Historical scalability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21 / 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38528"/>
            <a:ext cx="3291840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0976" y="2075688"/>
            <a:ext cx="294436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BEST OBSERVED SPEEDUP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395728"/>
            <a:ext cx="294436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2.925×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1938528"/>
            <a:ext cx="3291840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9432" y="2075688"/>
            <a:ext cx="294436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RUNTIME REDUCTION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95728"/>
            <a:ext cx="294436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65.81%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8" y="1938528"/>
            <a:ext cx="3291840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38744" y="2075688"/>
            <a:ext cx="294436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HISTORICAL RUNS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95728"/>
            <a:ext cx="294436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18 / 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547872"/>
            <a:ext cx="5138928" cy="19019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78408" y="3803904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61288" y="3803904"/>
            <a:ext cx="45720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480560"/>
            <a:ext cx="4553712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More local workers reduced runtime on both tested dataset sizes.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3547872"/>
            <a:ext cx="5138928" cy="19019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45936" y="3803904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28816" y="3803904"/>
            <a:ext cx="45720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4480560"/>
            <a:ext cx="4553712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These findings do not establish multi-node or real-world scalability.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What the experiments demonstrate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1.698×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Synthetic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controlled Spark speedup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11954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1.575×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KDD99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controlled Spark speedup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8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6668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0.055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092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KDD99 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weak label agreement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Local parallelism reduced Spark runtime; traditional remained faster at 1K. Larger synthetic runs showed stronger scaling.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9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0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5BCCE6"/>
                </a:solidFill>
              </a:defRPr>
            </a:pPr>
            <a:r>
              <a:t>SUPPLEMENTARY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9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EBF2FA"/>
                </a:solidFill>
              </a:defRPr>
            </a:pPr>
            <a:r>
              <a:t>Independent SSE &amp; cluster-quality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27048"/>
            <a:ext cx="1109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EBF2FA"/>
                </a:solidFill>
              </a:defRPr>
            </a:pPr>
            <a:r>
              <a:t>1,000 records  •  2 partitions  •  seed 42  •  5 clusters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3977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BCCE6"/>
                </a:solidFill>
              </a:defRPr>
            </a:pPr>
            <a:r>
              <a:t>Dataset /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36592" y="2057400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BCCE6"/>
                </a:solidFill>
              </a:defRPr>
            </a:pPr>
            <a:r>
              <a:t>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057400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BCCE6"/>
                </a:solidFill>
              </a:defRPr>
            </a:pPr>
            <a:r>
              <a:t>Purity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057400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BCCE6"/>
                </a:solidFill>
              </a:defRPr>
            </a:pPr>
            <a:r>
              <a:t>ARI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7696" y="2057400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BCCE6"/>
                </a:solidFill>
              </a:defRPr>
            </a:pPr>
            <a:r>
              <a:t>NMI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96312"/>
            <a:ext cx="3977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Synthetic • Traditional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6592" y="2496312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1,032.370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496312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1.000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49631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1.000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249631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1.000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35224"/>
            <a:ext cx="3977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Synthetic • Spark local[1]/[2]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2935224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1,032.370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935224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1.000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93522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1.000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293522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1.000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374136"/>
            <a:ext cx="3977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KDD99 • Traditional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592" y="3374136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9,342.830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374136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0.975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37413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0.432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6" y="337413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0.535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813048"/>
            <a:ext cx="3977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KDD99 • Spark local[1]/[2]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36592" y="3813048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21,072.555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813048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0.797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81304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-0.005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7696" y="381304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0.011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498848"/>
            <a:ext cx="1109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BCCE6"/>
                </a:solidFill>
              </a:defRPr>
            </a:pPr>
            <a:r>
              <a:t>All four Spark runs passed independent SSE, assignment, and cluster-count checks.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010912"/>
            <a:ext cx="1109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KDD99 purity 0.797 is near the 0.795 majority-class reference. This five-cluster check is separate from the earlier four-cluster, 42-run controlled study. Spark local[n] uses one computer.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CLOSING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Thank you —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Parallel K-Means clustering using Apache Spark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24 /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92224"/>
            <a:ext cx="10817352" cy="1005840"/>
          </a:xfrm>
          <a:prstGeom prst="roundRect">
            <a:avLst>
              <a:gd name="adj" fmla="val 14000"/>
            </a:avLst>
          </a:prstGeom>
          <a:solidFill>
            <a:srgbClr val="11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dirty="0">
                <a:solidFill>
                  <a:schemeClr val="bg1"/>
                </a:solidFill>
              </a:rPr>
              <a:t>Historical synthetic local[4] speedup: 2.925× at 50,000 records — with consistent mean SSE across local settings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1546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5364A"/>
                </a:solidFill>
                <a:latin typeface="Aptos"/>
              </a:defRPr>
            </a:pPr>
            <a:r>
              <a:t>[1] H. Liu et al., “Big data clustering method based on parallel K-means,” IEEE ICPECA, 2024.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675888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5364A"/>
                </a:solidFill>
                <a:latin typeface="Aptos"/>
              </a:defRPr>
            </a:pPr>
            <a:r>
              <a:t>[2] S. P. Lloyd, “Least squares quantization in PCM,” IEEE Trans. Inf. Theory, 1982.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197096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5364A"/>
                </a:solidFill>
                <a:latin typeface="Aptos"/>
              </a:defRPr>
            </a:pPr>
            <a:r>
              <a:t>[3] D. Arthur and S. Vassilvitskii, “k-means++,” SODA, 2007.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718304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5364A"/>
                </a:solidFill>
                <a:latin typeface="Aptos"/>
              </a:defRPr>
            </a:pPr>
            <a:r>
              <a:t>[4] B. Bahmani et al., “Scalable K-Means++,” PVLDB, 2012.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523951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5364A"/>
                </a:solidFill>
                <a:latin typeface="Aptos"/>
              </a:defRPr>
            </a:pPr>
            <a:r>
              <a:t>[5] Apache Software Foundation, “RDD Programming Guide,” Spark Documentation.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1698</Words>
  <Application>Microsoft Macintosh PowerPoint</Application>
  <PresentationFormat>Widescreen</PresentationFormat>
  <Paragraphs>300</Paragraphs>
  <Slides>23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Boluwatife Opakunle</cp:lastModifiedBy>
  <cp:revision>2</cp:revision>
  <dcterms:created xsi:type="dcterms:W3CDTF">2013-01-27T09:14:16Z</dcterms:created>
  <dcterms:modified xsi:type="dcterms:W3CDTF">2026-10-30T03:24:56Z</dcterms:modified>
  <cp:category/>
</cp:coreProperties>
</file>